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DOORS AND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Construction – Unit 9  |  Describing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CD3E5"/>
                </a:solidFill>
                <a:latin typeface="Calibri"/>
              </a:rPr>
              <a:t>Career Paths: Construction</a:t>
            </a:r>
          </a:p>
          <a:p>
            <a:pPr algn="ctr"/>
            <a:r>
              <a:rPr sz="1600" b="0">
                <a:solidFill>
                  <a:srgbClr val="CCD3E5"/>
                </a:solidFill>
                <a:latin typeface="Calibri"/>
              </a:rPr>
              <a:t>Reading context: Product descriptions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256032"/>
            <a:ext cx="548640" cy="54864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Calibri"/>
              </a:rPr>
              <a:t>▪ Doors and windows are key openings in the building envelope.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Calibri"/>
              </a:rPr>
              <a:t>▪ They control access, light, ventilation, views and security.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Calibri"/>
              </a:rPr>
              <a:t>▪ Correct selection depends on function, location, climate and design.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Calibri"/>
              </a:rPr>
              <a:t>▪ This unit helps you describe and compare the available options.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Calibri"/>
              </a:rPr>
              <a:t>▪ Key skill (Function): describing options to a client or co-worker.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Doors: Main Types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256032"/>
            <a:ext cx="548640" cy="54864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39496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Sliding door: </a:t>
            </a:r>
            <a:r>
              <a:rPr sz="1900">
                <a:solidFill>
                  <a:srgbClr val="444444"/>
                </a:solidFill>
                <a:latin typeface="Calibri"/>
              </a:rPr>
              <a:t>moves sideways on a track.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Pocket door: </a:t>
            </a:r>
            <a:r>
              <a:rPr sz="1900">
                <a:solidFill>
                  <a:srgbClr val="444444"/>
                </a:solidFill>
                <a:latin typeface="Calibri"/>
              </a:rPr>
              <a:t>slides into a cavity inside the wall.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Bifold door: </a:t>
            </a:r>
            <a:r>
              <a:rPr sz="1900">
                <a:solidFill>
                  <a:srgbClr val="444444"/>
                </a:solidFill>
                <a:latin typeface="Calibri"/>
              </a:rPr>
              <a:t>folds in two panels to open.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Revolving door: </a:t>
            </a:r>
            <a:r>
              <a:rPr sz="1900">
                <a:solidFill>
                  <a:srgbClr val="444444"/>
                </a:solidFill>
                <a:latin typeface="Calibri"/>
              </a:rPr>
              <a:t>rotating panels; saves heated/cooled air.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Automatic door: </a:t>
            </a:r>
            <a:r>
              <a:rPr sz="1900">
                <a:solidFill>
                  <a:srgbClr val="444444"/>
                </a:solidFill>
                <a:latin typeface="Calibri"/>
              </a:rPr>
              <a:t>opens by sensor, no manual effort.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Pocket / fire door: </a:t>
            </a:r>
            <a:r>
              <a:rPr sz="1900">
                <a:solidFill>
                  <a:srgbClr val="444444"/>
                </a:solidFill>
                <a:latin typeface="Calibri"/>
              </a:rPr>
              <a:t>fire door resists fire and smoke spread.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Fire door: </a:t>
            </a:r>
            <a:r>
              <a:rPr sz="1900">
                <a:solidFill>
                  <a:srgbClr val="444444"/>
                </a:solidFill>
                <a:latin typeface="Calibri"/>
              </a:rPr>
              <a:t>rated to slow the spread of fire.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Frame: </a:t>
            </a:r>
            <a:r>
              <a:rPr sz="1900">
                <a:solidFill>
                  <a:srgbClr val="444444"/>
                </a:solidFill>
                <a:latin typeface="Calibri"/>
              </a:rPr>
              <a:t>the surround that holds the door in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Windows: Main Types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256032"/>
            <a:ext cx="548640" cy="54864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Fixed: </a:t>
            </a:r>
            <a:r>
              <a:rPr sz="1900">
                <a:solidFill>
                  <a:srgbClr val="444444"/>
                </a:solidFill>
                <a:latin typeface="Calibri"/>
              </a:rPr>
              <a:t>does not open; provides light and view only.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Double-hung: </a:t>
            </a:r>
            <a:r>
              <a:rPr sz="1900">
                <a:solidFill>
                  <a:srgbClr val="444444"/>
                </a:solidFill>
                <a:latin typeface="Calibri"/>
              </a:rPr>
              <a:t>two sashes slide up and down.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Casement: </a:t>
            </a:r>
            <a:r>
              <a:rPr sz="1900">
                <a:solidFill>
                  <a:srgbClr val="444444"/>
                </a:solidFill>
                <a:latin typeface="Calibri"/>
              </a:rPr>
              <a:t>hinged at the side; swings outward.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Awning: </a:t>
            </a:r>
            <a:r>
              <a:rPr sz="1900">
                <a:solidFill>
                  <a:srgbClr val="444444"/>
                </a:solidFill>
                <a:latin typeface="Calibri"/>
              </a:rPr>
              <a:t>hinged at top; opens outward from the bottom.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Hopper: </a:t>
            </a:r>
            <a:r>
              <a:rPr sz="1900">
                <a:solidFill>
                  <a:srgbClr val="444444"/>
                </a:solidFill>
                <a:latin typeface="Calibri"/>
              </a:rPr>
              <a:t>hinged at bottom; opens inward from the top.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2A3D66"/>
                </a:solidFill>
                <a:latin typeface="Calibri"/>
              </a:rPr>
              <a:t>▪ Sliding: </a:t>
            </a:r>
            <a:r>
              <a:rPr sz="1900">
                <a:solidFill>
                  <a:srgbClr val="444444"/>
                </a:solidFill>
                <a:latin typeface="Calibri"/>
              </a:rPr>
              <a:t>sash slides horizontally on a track.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Window Components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256032"/>
            <a:ext cx="548640" cy="54864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100">
                <a:solidFill>
                  <a:srgbClr val="2A3D66"/>
                </a:solidFill>
                <a:latin typeface="Calibri"/>
              </a:rPr>
              <a:t>▪ Sash: </a:t>
            </a:r>
            <a:r>
              <a:rPr sz="2100">
                <a:solidFill>
                  <a:srgbClr val="444444"/>
                </a:solidFill>
                <a:latin typeface="Calibri"/>
              </a:rPr>
              <a:t>the moveable part of the window that holds the glass.</a:t>
            </a:r>
          </a:p>
          <a:p>
            <a:pPr>
              <a:spcAft>
                <a:spcPts val="800"/>
              </a:spcAft>
            </a:pPr>
            <a:r>
              <a:rPr b="1" sz="2100">
                <a:solidFill>
                  <a:srgbClr val="2A3D66"/>
                </a:solidFill>
                <a:latin typeface="Calibri"/>
              </a:rPr>
              <a:t>▪ Pane: </a:t>
            </a:r>
            <a:r>
              <a:rPr sz="2100">
                <a:solidFill>
                  <a:srgbClr val="444444"/>
                </a:solidFill>
                <a:latin typeface="Calibri"/>
              </a:rPr>
              <a:t>a single sheet of glass within the sash.</a:t>
            </a:r>
          </a:p>
          <a:p>
            <a:pPr>
              <a:spcAft>
                <a:spcPts val="800"/>
              </a:spcAft>
            </a:pPr>
            <a:r>
              <a:rPr b="1" sz="2100">
                <a:solidFill>
                  <a:srgbClr val="2A3D66"/>
                </a:solidFill>
                <a:latin typeface="Calibri"/>
              </a:rPr>
              <a:t>▪ Frame: </a:t>
            </a:r>
            <a:r>
              <a:rPr sz="2100">
                <a:solidFill>
                  <a:srgbClr val="444444"/>
                </a:solidFill>
                <a:latin typeface="Calibri"/>
              </a:rPr>
              <a:t>the fixed outer structure fitted into the wall opening.</a:t>
            </a:r>
          </a:p>
          <a:p>
            <a:pPr>
              <a:spcAft>
                <a:spcPts val="800"/>
              </a:spcAft>
            </a:pPr>
            <a:r>
              <a:rPr b="1" sz="2100">
                <a:solidFill>
                  <a:srgbClr val="2A3D66"/>
                </a:solidFill>
                <a:latin typeface="Calibri"/>
              </a:rPr>
              <a:t>▪ Glazing: </a:t>
            </a:r>
            <a:r>
              <a:rPr sz="2100">
                <a:solidFill>
                  <a:srgbClr val="444444"/>
                </a:solidFill>
                <a:latin typeface="Calibri"/>
              </a:rPr>
              <a:t>the glass and the way it is set into the sash.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Vocabulary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256032"/>
            <a:ext cx="548640" cy="54864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39496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automatic door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awning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bifold door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casement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double-hung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fire door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frame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sash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hopper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pane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pocket door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revolving door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▪ sliding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Choosing the Right Option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256032"/>
            <a:ext cx="548640" cy="54864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000">
                <a:solidFill>
                  <a:srgbClr val="2A3D66"/>
                </a:solidFill>
                <a:latin typeface="Calibri"/>
              </a:rPr>
              <a:t>▪ Space: </a:t>
            </a:r>
            <a:r>
              <a:rPr sz="2000">
                <a:solidFill>
                  <a:srgbClr val="444444"/>
                </a:solidFill>
                <a:latin typeface="Calibri"/>
              </a:rPr>
              <a:t>sliding and pocket doors save floor space.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A3D66"/>
                </a:solidFill>
                <a:latin typeface="Calibri"/>
              </a:rPr>
              <a:t>▪ Energy: </a:t>
            </a:r>
            <a:r>
              <a:rPr sz="2000">
                <a:solidFill>
                  <a:srgbClr val="444444"/>
                </a:solidFill>
                <a:latin typeface="Calibri"/>
              </a:rPr>
              <a:t>revolving and automatic doors reduce air loss.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A3D66"/>
                </a:solidFill>
                <a:latin typeface="Calibri"/>
              </a:rPr>
              <a:t>▪ Safety: </a:t>
            </a:r>
            <a:r>
              <a:rPr sz="2000">
                <a:solidFill>
                  <a:srgbClr val="444444"/>
                </a:solidFill>
                <a:latin typeface="Calibri"/>
              </a:rPr>
              <a:t>fire doors are required on escape routes.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A3D66"/>
                </a:solidFill>
                <a:latin typeface="Calibri"/>
              </a:rPr>
              <a:t>▪ Ventilation: </a:t>
            </a:r>
            <a:r>
              <a:rPr sz="2000">
                <a:solidFill>
                  <a:srgbClr val="444444"/>
                </a:solidFill>
                <a:latin typeface="Calibri"/>
              </a:rPr>
              <a:t>casement and awning windows give good airflow.</a:t>
            </a:r>
          </a:p>
          <a:p>
            <a:pPr>
              <a:spcAft>
                <a:spcPts val="800"/>
              </a:spcAft>
            </a:pPr>
            <a:r>
              <a:rPr b="1" sz="2000">
                <a:solidFill>
                  <a:srgbClr val="2A3D66"/>
                </a:solidFill>
                <a:latin typeface="Calibri"/>
              </a:rPr>
              <a:t>▪ View &amp; light: </a:t>
            </a:r>
            <a:r>
              <a:rPr sz="2000">
                <a:solidFill>
                  <a:srgbClr val="444444"/>
                </a:solidFill>
                <a:latin typeface="Calibri"/>
              </a:rPr>
              <a:t>fixed and large panes maximise daylight.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Useful Language: Describing Options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256032"/>
            <a:ext cx="548640" cy="548640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91695" cy="539496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  <a:latin typeface="Calibri"/>
              </a:rPr>
              <a:t>▪ “One option is to install a sliding door.”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  <a:latin typeface="Calibri"/>
              </a:rPr>
              <a:t>▪ “Another possibility would be a casement window.”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  <a:latin typeface="Calibri"/>
              </a:rPr>
              <a:t>▪ “You could go with a fire door for the corridor.”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  <a:latin typeface="Calibri"/>
              </a:rPr>
              <a:t>▪ “If you want more light, I’d recommend a fixed window.”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  <a:latin typeface="Calibri"/>
              </a:rPr>
              <a:t>▪ “Alternatively, we can use a revolving door at the entrance.”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972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▪ Doors: sliding, pocket, bifold, revolving, automatic, fire.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▪ Windows: fixed, double-hung, casement, awning, hopper, sliding.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▪ Components: frame, sash, pane.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▪ Choose by space, energy, safety, ventilation and view.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▪ Function practised: describing options.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8A1A"/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